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Lobster"/>
      <p:regular r:id="rId15"/>
    </p:embeddedFont>
    <p:embeddedFont>
      <p:font typeface="Didact Gothic"/>
      <p:regular r:id="rId16"/>
    </p:embeddedFont>
    <p:embeddedFont>
      <p:font typeface="Pacifico"/>
      <p:regular r:id="rId17"/>
    </p:embeddedFont>
    <p:embeddedFont>
      <p:font typeface="Comfortaa"/>
      <p:regular r:id="rId18"/>
      <p:bold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Lobster-regular.fntdata"/><Relationship Id="rId14" Type="http://schemas.openxmlformats.org/officeDocument/2006/relationships/slide" Target="slides/slide9.xml"/><Relationship Id="rId17" Type="http://schemas.openxmlformats.org/officeDocument/2006/relationships/font" Target="fonts/Pacifico-regular.fntdata"/><Relationship Id="rId16" Type="http://schemas.openxmlformats.org/officeDocument/2006/relationships/font" Target="fonts/DidactGothic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Comfortaa-bold.fntdata"/><Relationship Id="rId6" Type="http://schemas.openxmlformats.org/officeDocument/2006/relationships/slide" Target="slides/slide1.xml"/><Relationship Id="rId18" Type="http://schemas.openxmlformats.org/officeDocument/2006/relationships/font" Target="fonts/Comfortaa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" name="Google Shape;5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337a9e98db_0_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" name="Google Shape;66;g3337a9e98db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3" name="Google Shape;73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337a9e98db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g3337a9e98d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" name="Google Shape;9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5" name="Google Shape;115;p1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3" name="Google Shape;13;p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7" name="Google Shape;1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" name="Google Shape;21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" name="Google Shape;32;p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6" name="Google Shape;36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1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0" name="Google Shape;40;p1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1" name="Google Shape;41;p1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2" name="Google Shape;42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5" name="Google Shape;4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1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jp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jpg"/><Relationship Id="rId4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jpg"/><Relationship Id="rId4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jpg"/><Relationship Id="rId4" Type="http://schemas.openxmlformats.org/officeDocument/2006/relationships/image" Target="../media/image2.png"/><Relationship Id="rId5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jpg"/><Relationship Id="rId4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jpg"/><Relationship Id="rId4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jpg"/><Relationship Id="rId4" Type="http://schemas.openxmlformats.org/officeDocument/2006/relationships/hyperlink" Target="https://youtu.be/kbqYfvmqGgE?si=_5-8ROU0S4f28EpO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jpg"/><Relationship Id="rId4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jpg"/><Relationship Id="rId4" Type="http://schemas.openxmlformats.org/officeDocument/2006/relationships/hyperlink" Target="https://www.youtube.com/watch?app=desktop&amp;v=lLA1Gdzp9Wg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2451225" y="711575"/>
            <a:ext cx="6464700" cy="35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00"/>
              <a:buFont typeface="Arial"/>
              <a:buNone/>
            </a:pPr>
            <a:r>
              <a:rPr b="1" lang="pt-BR" sz="4500">
                <a:latin typeface="Comfortaa"/>
                <a:ea typeface="Comfortaa"/>
                <a:cs typeface="Comfortaa"/>
                <a:sym typeface="Comfortaa"/>
              </a:rPr>
              <a:t>Língua Portuguesa</a:t>
            </a:r>
            <a:r>
              <a:rPr i="0" lang="pt-BR" sz="4500" u="none" cap="none" strike="noStrik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 - 1° trimestre</a:t>
            </a:r>
            <a:endParaRPr i="0" sz="4500" u="none" cap="none" strike="noStrik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00"/>
              <a:buFont typeface="Arial"/>
              <a:buNone/>
            </a:pPr>
            <a:r>
              <a:t/>
            </a:r>
            <a:endParaRPr sz="45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0" lang="pt-BR" sz="2900" u="none" cap="none" strike="noStrike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Year 2 - </a:t>
            </a:r>
            <a:r>
              <a:rPr lang="pt-BR" sz="29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“</a:t>
            </a:r>
            <a:r>
              <a:rPr i="0" lang="pt-BR" sz="2900" u="none" cap="none" strike="noStrik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A</a:t>
            </a:r>
            <a:r>
              <a:rPr lang="pt-BR" sz="2900">
                <a:latin typeface="Comfortaa"/>
                <a:ea typeface="Comfortaa"/>
                <a:cs typeface="Comfortaa"/>
                <a:sym typeface="Comfortaa"/>
              </a:rPr>
              <a:t>, E, F, ”</a:t>
            </a:r>
            <a:endParaRPr i="0" sz="2900" u="none" cap="none" strike="noStrike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t/>
            </a:r>
            <a:endParaRPr b="0" i="0" sz="3100" u="none" cap="none" strike="noStrike">
              <a:solidFill>
                <a:srgbClr val="000000"/>
              </a:solidFill>
              <a:latin typeface="Pacifico"/>
              <a:ea typeface="Pacifico"/>
              <a:cs typeface="Pacifico"/>
              <a:sym typeface="Pacific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Pacifico"/>
              <a:ea typeface="Pacifico"/>
              <a:cs typeface="Pacifico"/>
              <a:sym typeface="Pacifico"/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4571998" y="4548825"/>
            <a:ext cx="42069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200" u="none" cap="none" strike="noStrike">
                <a:solidFill>
                  <a:srgbClr val="000000"/>
                </a:solidFill>
                <a:latin typeface="Didact Gothic"/>
                <a:ea typeface="Didact Gothic"/>
                <a:cs typeface="Didact Gothic"/>
                <a:sym typeface="Didact Gothic"/>
              </a:rPr>
              <a:t>Miss </a:t>
            </a:r>
            <a:r>
              <a:rPr b="1" lang="pt-BR" sz="2200">
                <a:latin typeface="Didact Gothic"/>
                <a:ea typeface="Didact Gothic"/>
                <a:cs typeface="Didact Gothic"/>
                <a:sym typeface="Didact Gothic"/>
              </a:rPr>
              <a:t>Shirley e Miss Ana Cláudia</a:t>
            </a:r>
            <a:endParaRPr b="1" i="0" sz="2200" u="none" cap="none" strike="noStrike">
              <a:solidFill>
                <a:srgbClr val="000000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9726" y="1570025"/>
            <a:ext cx="3209725" cy="345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/>
        </p:nvSpPr>
        <p:spPr>
          <a:xfrm>
            <a:off x="2257575" y="1089825"/>
            <a:ext cx="6475200" cy="272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Arial"/>
              <a:buNone/>
            </a:pPr>
            <a:r>
              <a:rPr b="1" i="0" lang="pt-BR" sz="5500" u="none" cap="none" strike="noStrik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Vamos relembrar o que estudamos?</a:t>
            </a:r>
            <a:endParaRPr b="1" i="0" sz="2400" u="none" cap="none" strike="noStrike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62" name="Google Shape;62;p14"/>
          <p:cNvSpPr txBox="1"/>
          <p:nvPr/>
        </p:nvSpPr>
        <p:spPr>
          <a:xfrm>
            <a:off x="2503100" y="4433900"/>
            <a:ext cx="54837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pt-BR" sz="2600" u="none" cap="none" strike="noStrike">
                <a:solidFill>
                  <a:srgbClr val="000000"/>
                </a:solidFill>
                <a:latin typeface="Lobster"/>
                <a:ea typeface="Lobster"/>
                <a:cs typeface="Lobster"/>
                <a:sym typeface="Lobster"/>
              </a:rPr>
              <a:t>   </a:t>
            </a:r>
            <a:endParaRPr b="0" i="0" sz="2600" u="none" cap="none" strike="noStrike">
              <a:solidFill>
                <a:srgbClr val="000000"/>
              </a:solidFill>
              <a:latin typeface="Lobster"/>
              <a:ea typeface="Lobster"/>
              <a:cs typeface="Lobster"/>
              <a:sym typeface="Lobster"/>
            </a:endParaRPr>
          </a:p>
        </p:txBody>
      </p:sp>
      <p:pic>
        <p:nvPicPr>
          <p:cNvPr id="63" name="Google Shape;63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776" y="1558625"/>
            <a:ext cx="3209725" cy="345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/>
        </p:nvSpPr>
        <p:spPr>
          <a:xfrm>
            <a:off x="2257575" y="1089825"/>
            <a:ext cx="6475200" cy="37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Arial"/>
              <a:buNone/>
            </a:pPr>
            <a:r>
              <a:rPr b="1" lang="pt-BR" sz="3900">
                <a:latin typeface="Comfortaa"/>
                <a:ea typeface="Comfortaa"/>
                <a:cs typeface="Comfortaa"/>
                <a:sym typeface="Comfortaa"/>
              </a:rPr>
              <a:t>Gênero textual: “diário”</a:t>
            </a:r>
            <a:endParaRPr b="1" sz="39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Arial"/>
              <a:buNone/>
            </a:pPr>
            <a:r>
              <a:t/>
            </a:r>
            <a:endParaRPr b="1" sz="39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Arial"/>
              <a:buNone/>
            </a:pPr>
            <a:r>
              <a:rPr b="1" lang="pt-BR" sz="3900">
                <a:latin typeface="Comfortaa"/>
                <a:ea typeface="Comfortaa"/>
                <a:cs typeface="Comfortaa"/>
                <a:sym typeface="Comfortaa"/>
              </a:rPr>
              <a:t>  </a:t>
            </a:r>
            <a:r>
              <a:rPr b="1" lang="pt-BR" sz="3100">
                <a:latin typeface="Comfortaa"/>
                <a:ea typeface="Comfortaa"/>
                <a:cs typeface="Comfortaa"/>
                <a:sym typeface="Comfortaa"/>
              </a:rPr>
              <a:t>O livro da unidade: </a:t>
            </a:r>
            <a:endParaRPr b="1" sz="31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Arial"/>
              <a:buNone/>
            </a:pPr>
            <a:r>
              <a:rPr b="1" lang="pt-BR" sz="3900">
                <a:latin typeface="Comfortaa"/>
                <a:ea typeface="Comfortaa"/>
                <a:cs typeface="Comfortaa"/>
                <a:sym typeface="Comfortaa"/>
              </a:rPr>
              <a:t>O diário escondido de Serafina</a:t>
            </a:r>
            <a:endParaRPr b="1" sz="39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Arial"/>
              <a:buNone/>
            </a:pPr>
            <a:r>
              <a:t/>
            </a:r>
            <a:endParaRPr b="1" sz="390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69" name="Google Shape;69;p15"/>
          <p:cNvSpPr txBox="1"/>
          <p:nvPr/>
        </p:nvSpPr>
        <p:spPr>
          <a:xfrm>
            <a:off x="2503100" y="4433900"/>
            <a:ext cx="54837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pt-BR" sz="2600" u="none" cap="none" strike="noStrike">
                <a:solidFill>
                  <a:srgbClr val="000000"/>
                </a:solidFill>
                <a:latin typeface="Lobster"/>
                <a:ea typeface="Lobster"/>
                <a:cs typeface="Lobster"/>
                <a:sym typeface="Lobster"/>
              </a:rPr>
              <a:t>   </a:t>
            </a:r>
            <a:endParaRPr b="0" i="0" sz="2600" u="none" cap="none" strike="noStrike">
              <a:solidFill>
                <a:srgbClr val="000000"/>
              </a:solidFill>
              <a:latin typeface="Lobster"/>
              <a:ea typeface="Lobster"/>
              <a:cs typeface="Lobster"/>
              <a:sym typeface="Lobster"/>
            </a:endParaRPr>
          </a:p>
        </p:txBody>
      </p:sp>
      <p:pic>
        <p:nvPicPr>
          <p:cNvPr id="70" name="Google Shape;70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776" y="1558625"/>
            <a:ext cx="3209725" cy="345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/>
        </p:nvSpPr>
        <p:spPr>
          <a:xfrm>
            <a:off x="355675" y="440700"/>
            <a:ext cx="8163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00" u="sng" cap="none" strike="noStrike">
              <a:solidFill>
                <a:srgbClr val="000000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sp>
        <p:nvSpPr>
          <p:cNvPr id="76" name="Google Shape;76;p16"/>
          <p:cNvSpPr txBox="1"/>
          <p:nvPr/>
        </p:nvSpPr>
        <p:spPr>
          <a:xfrm>
            <a:off x="490350" y="1276225"/>
            <a:ext cx="8163300" cy="39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5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58000"/>
              </a:lnSpc>
              <a:spcBef>
                <a:spcPts val="23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58000"/>
              </a:lnSpc>
              <a:spcBef>
                <a:spcPts val="23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58000"/>
              </a:lnSpc>
              <a:spcBef>
                <a:spcPts val="23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58000"/>
              </a:lnSpc>
              <a:spcBef>
                <a:spcPts val="2300"/>
              </a:spcBef>
              <a:spcAft>
                <a:spcPts val="230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descr="Imagem de desenho infantil&#10;&#10;Descrição gerada automaticamente com confiança média" id="77" name="Google Shape;77;p16"/>
          <p:cNvPicPr preferRelativeResize="0"/>
          <p:nvPr/>
        </p:nvPicPr>
        <p:blipFill rotWithShape="1">
          <a:blip r:embed="rId4">
            <a:alphaModFix/>
          </a:blip>
          <a:srcRect b="7918" l="11123" r="41358" t="55574"/>
          <a:stretch/>
        </p:blipFill>
        <p:spPr>
          <a:xfrm>
            <a:off x="6327625" y="332938"/>
            <a:ext cx="2581275" cy="3238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ma imagem contendo Texto&#10;&#10;Descrição gerada automaticamente" id="78" name="Google Shape;78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18425" y="660875"/>
            <a:ext cx="2942800" cy="4032125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6"/>
          <p:cNvSpPr txBox="1"/>
          <p:nvPr/>
        </p:nvSpPr>
        <p:spPr>
          <a:xfrm>
            <a:off x="4301825" y="3670600"/>
            <a:ext cx="4217100" cy="118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0" name="Google Shape;80;p16"/>
          <p:cNvSpPr/>
          <p:nvPr/>
        </p:nvSpPr>
        <p:spPr>
          <a:xfrm>
            <a:off x="3951000" y="1028700"/>
            <a:ext cx="621000" cy="3156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6"/>
          <p:cNvSpPr txBox="1"/>
          <p:nvPr/>
        </p:nvSpPr>
        <p:spPr>
          <a:xfrm>
            <a:off x="4700500" y="1028700"/>
            <a:ext cx="1627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pt-BR" sz="1800">
                <a:solidFill>
                  <a:schemeClr val="dk2"/>
                </a:solidFill>
              </a:rPr>
              <a:t>Ilustradora</a:t>
            </a:r>
            <a:endParaRPr b="1" i="1" sz="1800">
              <a:solidFill>
                <a:schemeClr val="dk2"/>
              </a:solidFill>
            </a:endParaRPr>
          </a:p>
        </p:txBody>
      </p:sp>
      <p:sp>
        <p:nvSpPr>
          <p:cNvPr id="82" name="Google Shape;82;p16"/>
          <p:cNvSpPr/>
          <p:nvPr/>
        </p:nvSpPr>
        <p:spPr>
          <a:xfrm>
            <a:off x="1566425" y="1174800"/>
            <a:ext cx="771600" cy="315600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6"/>
          <p:cNvSpPr txBox="1"/>
          <p:nvPr/>
        </p:nvSpPr>
        <p:spPr>
          <a:xfrm>
            <a:off x="560225" y="1128600"/>
            <a:ext cx="1006200" cy="4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pt-BR" sz="1800">
                <a:solidFill>
                  <a:schemeClr val="dk2"/>
                </a:solidFill>
              </a:rPr>
              <a:t>Autora</a:t>
            </a:r>
            <a:endParaRPr b="1" i="1"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/>
          <p:nvPr/>
        </p:nvSpPr>
        <p:spPr>
          <a:xfrm>
            <a:off x="2152375" y="341675"/>
            <a:ext cx="6475200" cy="454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4000" u="sng">
                <a:latin typeface="Comfortaa"/>
                <a:ea typeface="Comfortaa"/>
                <a:cs typeface="Comfortaa"/>
                <a:sym typeface="Comfortaa"/>
              </a:rPr>
              <a:t>Alfabeto maiúsculo</a:t>
            </a:r>
            <a:r>
              <a:rPr b="1" lang="pt-BR" sz="4000">
                <a:latin typeface="Comfortaa"/>
                <a:ea typeface="Comfortaa"/>
                <a:cs typeface="Comfortaa"/>
                <a:sym typeface="Comfortaa"/>
              </a:rPr>
              <a:t> </a:t>
            </a:r>
            <a:endParaRPr b="1" sz="40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0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600">
                <a:latin typeface="Comfortaa"/>
                <a:ea typeface="Comfortaa"/>
                <a:cs typeface="Comfortaa"/>
                <a:sym typeface="Comfortaa"/>
              </a:rPr>
              <a:t>A B C D E F G H I J K L M N O P Q R S T U V X W Y Z</a:t>
            </a:r>
            <a:r>
              <a:rPr b="1" lang="pt-BR" sz="3500">
                <a:latin typeface="Comfortaa"/>
                <a:ea typeface="Comfortaa"/>
                <a:cs typeface="Comfortaa"/>
                <a:sym typeface="Comfortaa"/>
              </a:rPr>
              <a:t> </a:t>
            </a:r>
            <a:endParaRPr b="1" sz="35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0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4000" u="sng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Alfabeto minúsculo</a:t>
            </a:r>
            <a:endParaRPr b="1" sz="4000" u="sng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1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a b c d e f g h i j k l m n o p q r s t u v w x y z</a:t>
            </a:r>
            <a:endParaRPr b="1" sz="310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89" name="Google Shape;89;p17"/>
          <p:cNvSpPr txBox="1"/>
          <p:nvPr/>
        </p:nvSpPr>
        <p:spPr>
          <a:xfrm>
            <a:off x="2503100" y="4433900"/>
            <a:ext cx="54837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pt-BR" sz="2600" u="none" cap="none" strike="noStrike">
                <a:solidFill>
                  <a:srgbClr val="000000"/>
                </a:solidFill>
                <a:latin typeface="Lobster"/>
                <a:ea typeface="Lobster"/>
                <a:cs typeface="Lobster"/>
                <a:sym typeface="Lobster"/>
              </a:rPr>
              <a:t>   </a:t>
            </a:r>
            <a:endParaRPr b="0" i="0" sz="2600" u="none" cap="none" strike="noStrike">
              <a:solidFill>
                <a:srgbClr val="000000"/>
              </a:solidFill>
              <a:latin typeface="Lobster"/>
              <a:ea typeface="Lobster"/>
              <a:cs typeface="Lobster"/>
              <a:sym typeface="Lobster"/>
            </a:endParaRPr>
          </a:p>
        </p:txBody>
      </p:sp>
      <p:pic>
        <p:nvPicPr>
          <p:cNvPr id="90" name="Google Shape;90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775" y="1558625"/>
            <a:ext cx="2217725" cy="287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/>
        </p:nvSpPr>
        <p:spPr>
          <a:xfrm>
            <a:off x="384006" y="603575"/>
            <a:ext cx="83760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pt-BR" sz="3500" u="sng">
                <a:solidFill>
                  <a:srgbClr val="333333"/>
                </a:solidFill>
                <a:latin typeface="Comfortaa"/>
                <a:ea typeface="Comfortaa"/>
                <a:cs typeface="Comfortaa"/>
                <a:sym typeface="Comfortaa"/>
              </a:rPr>
              <a:t>Ordem Alfabética</a:t>
            </a:r>
            <a:endParaRPr b="1" i="0" sz="2500" u="none" cap="none" strike="noStrik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96" name="Google Shape;96;p18"/>
          <p:cNvSpPr txBox="1"/>
          <p:nvPr/>
        </p:nvSpPr>
        <p:spPr>
          <a:xfrm>
            <a:off x="516125" y="1326875"/>
            <a:ext cx="8181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Arial"/>
              <a:buNone/>
            </a:pPr>
            <a:r>
              <a:rPr lang="pt-BR">
                <a:solidFill>
                  <a:srgbClr val="040C28"/>
                </a:solidFill>
                <a:latin typeface="Comfortaa"/>
                <a:ea typeface="Comfortaa"/>
                <a:cs typeface="Comfortaa"/>
                <a:sym typeface="Comfortaa"/>
              </a:rPr>
              <a:t>A  ordem alfabética organiza palavras </a:t>
            </a:r>
            <a:r>
              <a:rPr b="1" lang="pt-BR">
                <a:solidFill>
                  <a:srgbClr val="040C28"/>
                </a:solidFill>
                <a:latin typeface="Comfortaa"/>
                <a:ea typeface="Comfortaa"/>
                <a:cs typeface="Comfortaa"/>
                <a:sym typeface="Comfortaa"/>
              </a:rPr>
              <a:t>seguindo a sequência de A-Z,</a:t>
            </a:r>
            <a:r>
              <a:rPr lang="pt-BR">
                <a:solidFill>
                  <a:srgbClr val="040C28"/>
                </a:solidFill>
                <a:latin typeface="Comfortaa"/>
                <a:ea typeface="Comfortaa"/>
                <a:cs typeface="Comfortaa"/>
                <a:sym typeface="Comfortaa"/>
              </a:rPr>
              <a:t> analisando a primeira letra, depois a segunda (se necessário) .</a:t>
            </a:r>
            <a:r>
              <a:rPr lang="pt-BR">
                <a:solidFill>
                  <a:srgbClr val="1F1F1F"/>
                </a:solidFill>
                <a:latin typeface="Comfortaa"/>
                <a:ea typeface="Comfortaa"/>
                <a:cs typeface="Comfortaa"/>
                <a:sym typeface="Comfortaa"/>
              </a:rPr>
              <a:t> Ela é essencial para organizar informações, palavras, etc, de forma sistemática. </a:t>
            </a:r>
            <a:endParaRPr b="1" i="0" u="none" cap="none" strike="noStrike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97" name="Google Shape;97;p18"/>
          <p:cNvPicPr preferRelativeResize="0"/>
          <p:nvPr/>
        </p:nvPicPr>
        <p:blipFill rotWithShape="1">
          <a:blip r:embed="rId4">
            <a:alphaModFix/>
          </a:blip>
          <a:srcRect b="25711" l="62947" r="6262" t="40382"/>
          <a:stretch/>
        </p:blipFill>
        <p:spPr>
          <a:xfrm>
            <a:off x="1275900" y="2307250"/>
            <a:ext cx="4152299" cy="2570899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8"/>
          <p:cNvSpPr txBox="1"/>
          <p:nvPr/>
        </p:nvSpPr>
        <p:spPr>
          <a:xfrm>
            <a:off x="5798125" y="2291200"/>
            <a:ext cx="2840700" cy="265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</a:rPr>
              <a:t>1 - árvore</a:t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</a:rPr>
              <a:t>2- cadeira</a:t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</a:rPr>
              <a:t>3- carro</a:t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</a:rPr>
              <a:t>4- casa</a:t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</a:rPr>
              <a:t>5- menina</a:t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9"/>
          <p:cNvSpPr txBox="1"/>
          <p:nvPr/>
        </p:nvSpPr>
        <p:spPr>
          <a:xfrm>
            <a:off x="369350" y="356550"/>
            <a:ext cx="8430900" cy="43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2400">
                <a:latin typeface="Comfortaa"/>
                <a:ea typeface="Comfortaa"/>
                <a:cs typeface="Comfortaa"/>
                <a:sym typeface="Comfortaa"/>
              </a:rPr>
              <a:t>USO DA LETRA MAIÚSCULA</a:t>
            </a:r>
            <a:endParaRPr b="1" sz="24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2400">
                <a:latin typeface="Comfortaa"/>
                <a:ea typeface="Comfortaa"/>
                <a:cs typeface="Comfortaa"/>
                <a:sym typeface="Comfortaa"/>
              </a:rPr>
              <a:t>O uso da letra maiúscula foca em iniciar frases e nomes próprios ( pessoas, lugares, animais de estimação, etc). Maiúsculas vêm no começo de frases ou após os pontos ( ! ? . )</a:t>
            </a:r>
            <a:endParaRPr b="1" sz="24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04" name="Google Shape;104;p19"/>
          <p:cNvSpPr txBox="1"/>
          <p:nvPr/>
        </p:nvSpPr>
        <p:spPr>
          <a:xfrm>
            <a:off x="5564325" y="3506925"/>
            <a:ext cx="864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05" name="Google Shape;105;p19"/>
          <p:cNvSpPr txBox="1"/>
          <p:nvPr/>
        </p:nvSpPr>
        <p:spPr>
          <a:xfrm>
            <a:off x="514350" y="3343285"/>
            <a:ext cx="7528200" cy="98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u="sng">
                <a:solidFill>
                  <a:schemeClr val="hlink"/>
                </a:solidFill>
                <a:hlinkClick r:id="rId4"/>
              </a:rPr>
              <a:t>https://youtu.be/kbqYfvmqGgE?si=_5-8ROU0S4f28EpO</a:t>
            </a:r>
            <a:r>
              <a:rPr lang="pt-BR" sz="1800">
                <a:solidFill>
                  <a:schemeClr val="dk2"/>
                </a:solidFill>
              </a:rPr>
              <a:t> 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0"/>
          <p:cNvSpPr txBox="1"/>
          <p:nvPr/>
        </p:nvSpPr>
        <p:spPr>
          <a:xfrm>
            <a:off x="365749" y="838350"/>
            <a:ext cx="82659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500">
                <a:latin typeface="Comfortaa"/>
                <a:ea typeface="Comfortaa"/>
                <a:cs typeface="Comfortaa"/>
                <a:sym typeface="Comfortaa"/>
              </a:rPr>
              <a:t>Separação silábica</a:t>
            </a:r>
            <a:endParaRPr b="1" sz="350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11" name="Google Shape;111;p20"/>
          <p:cNvSpPr txBox="1"/>
          <p:nvPr/>
        </p:nvSpPr>
        <p:spPr>
          <a:xfrm>
            <a:off x="688350" y="1620275"/>
            <a:ext cx="77673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A divisão silábica é feita de acordo com a quantidade de fonemas pronunciados em uma única emissão sonora.</a:t>
            </a:r>
            <a:endParaRPr b="1" sz="240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112" name="Google Shape;112;p20"/>
          <p:cNvPicPr preferRelativeResize="0"/>
          <p:nvPr/>
        </p:nvPicPr>
        <p:blipFill rotWithShape="1">
          <a:blip r:embed="rId4">
            <a:alphaModFix/>
          </a:blip>
          <a:srcRect b="14351" l="1723" r="34456" t="21260"/>
          <a:stretch/>
        </p:blipFill>
        <p:spPr>
          <a:xfrm>
            <a:off x="2382375" y="2742500"/>
            <a:ext cx="4232650" cy="240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1"/>
          <p:cNvSpPr txBox="1"/>
          <p:nvPr/>
        </p:nvSpPr>
        <p:spPr>
          <a:xfrm>
            <a:off x="323550" y="1042300"/>
            <a:ext cx="8496900" cy="24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pt-BR" sz="25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Vídeos para auxiliar o estudo.</a:t>
            </a:r>
            <a:endParaRPr b="1" sz="2500"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1" sz="2500"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pt-BR" sz="2500" u="sng">
                <a:solidFill>
                  <a:schemeClr val="hlink"/>
                </a:solidFill>
                <a:latin typeface="Didact Gothic"/>
                <a:ea typeface="Didact Gothic"/>
                <a:cs typeface="Didact Gothic"/>
                <a:sym typeface="Didact Gothic"/>
                <a:hlinkClick r:id="rId4"/>
              </a:rPr>
              <a:t>https://www.youtube.com/watch?app=desktop&amp;v=lLA1Gdzp9Wg</a:t>
            </a:r>
            <a:endParaRPr b="1" sz="2500"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1" sz="2500"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1" sz="2500"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